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서학 100 (USD)</c:v>
                </c:pt>
              </c:strCache>
            </c:strRef>
          </c:tx>
          <c:spPr>
            <a:solidFill>
              <a:srgbClr val="1D9E75"/>
            </a:solidFill>
            <a:ln w="2540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2020.01</c:v>
                  </c:pt>
                  <c:pt idx="1">
                    <c:v>2020.06</c:v>
                  </c:pt>
                  <c:pt idx="2">
                    <c:v>2020.12</c:v>
                  </c:pt>
                  <c:pt idx="3">
                    <c:v>2021.06</c:v>
                  </c:pt>
                  <c:pt idx="4">
                    <c:v>2021.12</c:v>
                  </c:pt>
                  <c:pt idx="5">
                    <c:v>2022.06</c:v>
                  </c:pt>
                  <c:pt idx="6">
                    <c:v>2022.12</c:v>
                  </c:pt>
                  <c:pt idx="7">
                    <c:v>2023.06</c:v>
                  </c:pt>
                  <c:pt idx="8">
                    <c:v>2023.12</c:v>
                  </c:pt>
                  <c:pt idx="9">
                    <c:v>2024.06</c:v>
                  </c:pt>
                  <c:pt idx="10">
                    <c:v>2024.12</c:v>
                  </c:pt>
                  <c:pt idx="11">
                    <c:v>2025.06</c:v>
                  </c:pt>
                  <c:pt idx="12">
                    <c:v>2025.12</c:v>
                  </c:pt>
                  <c:pt idx="13">
                    <c:v>2026.05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1000</c:v>
                </c:pt>
                <c:pt idx="1">
                  <c:v>1127</c:v>
                </c:pt>
                <c:pt idx="2">
                  <c:v>1722</c:v>
                </c:pt>
                <c:pt idx="3">
                  <c:v>2200</c:v>
                </c:pt>
                <c:pt idx="4">
                  <c:v>2358</c:v>
                </c:pt>
                <c:pt idx="5">
                  <c:v>1590</c:v>
                </c:pt>
                <c:pt idx="6">
                  <c:v>1314</c:v>
                </c:pt>
                <c:pt idx="7">
                  <c:v>1800</c:v>
                </c:pt>
                <c:pt idx="8">
                  <c:v>2354</c:v>
                </c:pt>
                <c:pt idx="9">
                  <c:v>3100</c:v>
                </c:pt>
                <c:pt idx="10">
                  <c:v>3809</c:v>
                </c:pt>
                <c:pt idx="11">
                  <c:v>4200</c:v>
                </c:pt>
                <c:pt idx="12">
                  <c:v>4566</c:v>
                </c:pt>
                <c:pt idx="13">
                  <c:v>5296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NDX (참고)</c:v>
                </c:pt>
              </c:strCache>
            </c:strRef>
          </c:tx>
          <c:spPr>
            <a:solidFill>
              <a:srgbClr val="D3D1C7"/>
            </a:solidFill>
            <a:ln w="25400" cap="flat">
              <a:solidFill>
                <a:srgbClr val="D3D1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3D1C7"/>
              </a:solidFill>
              <a:ln w="9525" cap="flat">
                <a:solidFill>
                  <a:srgbClr val="D3D1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2020.01</c:v>
                  </c:pt>
                  <c:pt idx="1">
                    <c:v>2020.06</c:v>
                  </c:pt>
                  <c:pt idx="2">
                    <c:v>2020.12</c:v>
                  </c:pt>
                  <c:pt idx="3">
                    <c:v>2021.06</c:v>
                  </c:pt>
                  <c:pt idx="4">
                    <c:v>2021.12</c:v>
                  </c:pt>
                  <c:pt idx="5">
                    <c:v>2022.06</c:v>
                  </c:pt>
                  <c:pt idx="6">
                    <c:v>2022.12</c:v>
                  </c:pt>
                  <c:pt idx="7">
                    <c:v>2023.06</c:v>
                  </c:pt>
                  <c:pt idx="8">
                    <c:v>2023.12</c:v>
                  </c:pt>
                  <c:pt idx="9">
                    <c:v>2024.06</c:v>
                  </c:pt>
                  <c:pt idx="10">
                    <c:v>2024.12</c:v>
                  </c:pt>
                  <c:pt idx="11">
                    <c:v>2025.06</c:v>
                  </c:pt>
                  <c:pt idx="12">
                    <c:v>2025.12</c:v>
                  </c:pt>
                  <c:pt idx="13">
                    <c:v>2026.05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1000</c:v>
                </c:pt>
                <c:pt idx="1">
                  <c:v>1150</c:v>
                </c:pt>
                <c:pt idx="2">
                  <c:v>1437</c:v>
                </c:pt>
                <c:pt idx="3">
                  <c:v>1620</c:v>
                </c:pt>
                <c:pt idx="4">
                  <c:v>1780</c:v>
                </c:pt>
                <c:pt idx="5">
                  <c:v>1320</c:v>
                </c:pt>
                <c:pt idx="6">
                  <c:v>1264</c:v>
                </c:pt>
                <c:pt idx="7">
                  <c:v>1780</c:v>
                </c:pt>
                <c:pt idx="8">
                  <c:v>1927</c:v>
                </c:pt>
                <c:pt idx="9">
                  <c:v>2200</c:v>
                </c:pt>
                <c:pt idx="10">
                  <c:v>2419</c:v>
                </c:pt>
                <c:pt idx="11">
                  <c:v>2500</c:v>
                </c:pt>
                <c:pt idx="12">
                  <c:v>2587</c:v>
                </c:pt>
                <c:pt idx="13">
                  <c:v>2695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서학 100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2026*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72.2</c:v>
                </c:pt>
                <c:pt idx="1">
                  <c:v>36.9</c:v>
                </c:pt>
                <c:pt idx="2">
                  <c:v>-44.2</c:v>
                </c:pt>
                <c:pt idx="3">
                  <c:v>79.1</c:v>
                </c:pt>
                <c:pt idx="4">
                  <c:v>61.8</c:v>
                </c:pt>
                <c:pt idx="5">
                  <c:v>19.9</c:v>
                </c:pt>
                <c:pt idx="6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NDX</c:v>
                </c:pt>
              </c:strCache>
            </c:strRef>
          </c:tx>
          <c:spPr>
            <a:solidFill>
              <a:srgbClr val="D3D1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2026*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43.7</c:v>
                </c:pt>
                <c:pt idx="1">
                  <c:v>24.5</c:v>
                </c:pt>
                <c:pt idx="2">
                  <c:v>-28.7</c:v>
                </c:pt>
                <c:pt idx="3">
                  <c:v>52.4</c:v>
                </c:pt>
                <c:pt idx="4">
                  <c:v>25.6</c:v>
                </c:pt>
                <c:pt idx="5">
                  <c:v>7</c:v>
                </c:pt>
                <c:pt idx="6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274320" y="109728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F6E56">
                    <a:alpha val="40000"/>
                  </a:srgbClr>
                </a:solidFill>
              </a:rPr>
              <a:t>100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 100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spc="200" kern="0" dirty="0">
                <a:solidFill>
                  <a:srgbClr val="9FE1CB"/>
                </a:solidFill>
              </a:rPr>
              <a:t>Seohak 100 Index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389120" cy="45720"/>
          </a:xfrm>
          <a:prstGeom prst="rect">
            <a:avLst/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나스닥을 이긴 한국인의 선택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FE1CB"/>
                </a:solidFill>
              </a:rPr>
              <a:t>Beating NASDAQ, Korea's Choice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502920"/>
            <a:ext cx="29260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594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전체 누적 수익률 (USD)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822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80760" y="1399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E1CB"/>
                </a:solidFill>
              </a:rPr>
              <a:t>2020.01 ~ 2026.05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965960"/>
            <a:ext cx="29260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NDX 대비 초과 수익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+268%p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080760" y="2862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E1CB"/>
                </a:solidFill>
              </a:rPr>
              <a:t>K-알파 6년 누적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3429000"/>
            <a:ext cx="29260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현재 지수 포인트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749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5,296 pt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80760" y="4325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E1CB"/>
                </a:solidFill>
              </a:rPr>
              <a:t>기준 1,000 pt (2020.01.06)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47091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FE1CB"/>
                </a:solidFill>
              </a:rPr>
              <a:t>2026년 5월 기준   |   데이터 출처: 한국예탁결제원(세이브로)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서학개미란 무엇인가?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960120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704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서학개미</a:t>
            </a:r>
            <a:pPr indent="0" marL="0">
              <a:buNone/>
            </a:pPr>
            <a:r>
              <a:rPr lang="en-US" sz="170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=  서양(西) + 배울 학(學) + 개미(개인 투자자)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미국을 비롯한 해외 주식에 직접 투자하는 한국 개인투자자를 뜻하는 신조어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060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260604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서학개미의 미국 주식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보관금액 약 800억 달러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(한국예탁결제원 2026년 기준)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6060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194560"/>
            <a:ext cx="260604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2900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선구안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TSLA·NVDA·AI 반도체 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메가트렌드를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선제적으로 포착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194560"/>
            <a:ext cx="26060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194560"/>
            <a:ext cx="260604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집단지성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수십만 명의 독립적 판단이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집합된 시장 신호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 기관의 군중심리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 100 지수란?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24128"/>
            <a:ext cx="8229600" cy="658368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투자자의 미국 주식 실제 보유금액 상위 100종목을 추적하는 수급 가중 주가 지수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93852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1938528" cy="685800"/>
          </a:xfrm>
          <a:prstGeom prst="rect">
            <a:avLst/>
          </a:prstGeom>
          <a:solidFill>
            <a:srgbClr val="08504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1CB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633472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한국예탁결제원(세이브로)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보관금액 데이터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T+2 결제 완료 기준 실데이터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1874520"/>
            <a:ext cx="193852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874520"/>
            <a:ext cx="1938528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1CB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2221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선정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633472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보관금액 상위 100종목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 존(90위/110위) 적용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월요일 편출입 검토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874520"/>
            <a:ext cx="193852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874520"/>
            <a:ext cx="1938528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1CB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2221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6592" y="2633472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W_i = 보관금액 비율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Cap(비중제한) 없음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포트폴리오 그대로 반영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11696" y="1874520"/>
            <a:ext cx="193852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11696" y="1874520"/>
            <a:ext cx="1938528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920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E1CB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2221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방식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21424" y="2633472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 수익률 방식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I_t = I_(t-1) × (1 + R_t)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2020.01.06 = 1,000pt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 100 vs 나스닥 100 — 무엇이 다른가?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051560"/>
            <a:ext cx="3291840" cy="45720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 100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051560"/>
            <a:ext cx="3291840" cy="457200"/>
          </a:xfrm>
          <a:prstGeom prst="rect">
            <a:avLst/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나스닥 100 (NDX)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2860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916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선정 기준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600200"/>
            <a:ext cx="32918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691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 보관금액 상위 100종목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32918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91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나스닥 시가총액 상위 100종목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2286000" cy="530352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402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방식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148840"/>
            <a:ext cx="3291840" cy="530352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2240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보관금액 비율 (실제 수급)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148840"/>
            <a:ext cx="3291840" cy="530352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240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시가총액 비율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22860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7889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레버리지 ETF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2697480"/>
            <a:ext cx="32918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27889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 (실제 투자 그대로)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697480"/>
            <a:ext cx="32918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7889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2286000" cy="530352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3375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비중 제한(Cap)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0" y="3246120"/>
            <a:ext cx="3291840" cy="530352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337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 — 실제 포트폴리오 반영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3246120"/>
            <a:ext cx="3291840" cy="530352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337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종목 24% Cap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22860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886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리밸런싱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0" y="3794760"/>
            <a:ext cx="32918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886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월요일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3794760"/>
            <a:ext cx="32918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886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343400"/>
            <a:ext cx="2286000" cy="530352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434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수익 (6년)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0" y="4343400"/>
            <a:ext cx="3291840" cy="530352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4434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+430% (USD)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35040" y="4343400"/>
            <a:ext cx="3291840" cy="530352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434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+181% (USD)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6년 누적 성과 — 1,000pt → 5,296pt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05156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0" y="1051560"/>
            <a:ext cx="54864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20840" y="1124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수익 (USD)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20840" y="13990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+430%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583680" y="201168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11680"/>
            <a:ext cx="54864" cy="8229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084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수익 (KRW)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20840" y="23591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+564%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583680" y="297180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971800"/>
            <a:ext cx="54864" cy="822960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20840" y="3044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NDX 누적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0840" y="33192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+181%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583680" y="393192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3931920"/>
            <a:ext cx="54864" cy="82296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40050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K-알파 (초과수익)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20840" y="4279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+249%p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수익률 비교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6035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37960" y="1051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연도별 K-알파 (NDX 대비 초과수익)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537960" y="1417320"/>
            <a:ext cx="237744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56832" y="1508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69480" y="1490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+28.5%p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37960" y="1965960"/>
            <a:ext cx="237744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2057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69480" y="203911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37960" y="2514600"/>
            <a:ext cx="2377440" cy="475488"/>
          </a:xfrm>
          <a:prstGeom prst="rect">
            <a:avLst/>
          </a:prstGeom>
          <a:solidFill>
            <a:srgbClr val="FAECE7"/>
          </a:solidFill>
          <a:ln w="3810">
            <a:solidFill>
              <a:srgbClr val="F5C4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2606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69480" y="25877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-15.5%p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37960" y="3063240"/>
            <a:ext cx="237744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6832" y="3154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69480" y="313639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+26.7%p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37960" y="3611880"/>
            <a:ext cx="237744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56832" y="3703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368503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+36.2%p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537960" y="4160520"/>
            <a:ext cx="2377440" cy="475488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56832" y="4251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69480" y="4233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+12.9%p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37960" y="4800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* 2026년은 2026.05.08 기준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발전 단계 — 3개의 Phase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65960"/>
            <a:ext cx="7589520" cy="0"/>
          </a:xfrm>
          <a:prstGeom prst="line">
            <a:avLst/>
          </a:prstGeom>
          <a:noFill/>
          <a:ln w="12700">
            <a:solidFill>
              <a:srgbClr val="D3D1C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54480" y="1810512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26517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2651760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52374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2020 ~ 2022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907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추정 지수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2004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세이브로 데이터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65~70종목 운영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TSLA·EV 테마 주도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생존자 편향 없음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343400"/>
            <a:ext cx="2423160" cy="347472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3891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+31.4%   1,000 → 1,314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810512"/>
            <a:ext cx="320040" cy="320040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240280"/>
            <a:ext cx="26517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240280"/>
            <a:ext cx="2651760" cy="5943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252374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2023 ~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2907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추정 지수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32004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100종목 풀 완성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AI·반도체 테마 폭발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단일 +61.8%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1~2% 추정치 포함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4343400"/>
            <a:ext cx="2423160" cy="347472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43891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+248.4%   1,310 → 4,566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1810512"/>
            <a:ext cx="320040" cy="320040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240280"/>
            <a:ext cx="26517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240280"/>
            <a:ext cx="2651760" cy="59436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523744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EE"/>
                </a:solidFill>
              </a:rPr>
              <a:t>2026 ~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2907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공식 지수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36208" y="32004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실데이터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T+2 데이터 반영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없는 공식 지수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일간 발표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36208" y="4343400"/>
            <a:ext cx="2423160" cy="347472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43891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+15.7%   4,578 → 5,296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2020 ~ 2022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1188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D9E75"/>
                </a:solidFill>
              </a:rPr>
              <a:t>주도 테마: EV·밈주식·레버리지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2023 ~ 2025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1188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D9E75"/>
                </a:solidFill>
              </a:rPr>
              <a:t>주도 테마: AI·반도체·NVDA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2026 ~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1188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D9E75"/>
                </a:solidFill>
              </a:rPr>
              <a:t>주도 테마: 양자컴퓨터·로봇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 100 지수의 핵심 특징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수급 반영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시가총액이 아닌 한국 투자자의 실제 보유금액(세이브로)을 기반으로 종목 선정과 가중치를 결정합니다. 투자자의 실제 포트폴리오 성과를 추적합니다.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0972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09728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 없는 순수 수급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종목 비중 제한(Cap)을 적용하지 않습니다. TSLA 32%, NVDA 18% 등 실제 집중 투자 패턴을 그대로 반영하여 실제 수익률과 괴리가 없습니다.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09728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09728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99632" y="16002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레버리지 ETF 포함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18745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SOXL, TQQQ 등 레버리지 ETF가 실제 보관금액 상위권에 존재합니다. 이를 포함함으로써 서학개미의 공격적 투자 성향을 지수에 온전히 반영합니다.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72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" y="35661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 수익률 방식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I_t = I_(t-1) × (1 + R_t) 방식으로 매일 연결합니다. Divisor 시스템을 사용하지 않아 산출이 투명하고 검증이 쉽습니다.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73552" y="306324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73552" y="306324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172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5661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T+2 실데이터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세이브로의 결제 완료 기준(T+2) 실데이터를 사용합니다. 가중치는 T+2 보관금액, 주가는 당일 실시간 종가로 매일 지수를 발표합니다.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9904" y="3063240"/>
            <a:ext cx="26517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306324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3172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99632" y="35661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생존자 편향 방지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9632" y="3840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상장폐지·합병 종목(117건 처리)은 당시 가격으로 처리하고 풀에서 제거합니다. Phase 1B에서 상장일 필터링으로 미래 종목 사전 제외를 방지합니다.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지표 — 높은 수익, 그만큼의 변동성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낙폭 (MDD)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2423160" cy="457200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서학 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62763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-47.68%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2103120"/>
            <a:ext cx="2423160" cy="457200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NDX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5798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-35.49%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" y="2633472"/>
            <a:ext cx="2423160" cy="457200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24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S&amp;P500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6883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-25.40%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928" y="3200400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2021.11 ~ 2022.12 구간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레버리지 ETF 비중이 낙폭을 증폭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2023년 +79.1%로 완전 회복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105156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05156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1143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샤프 지수 (무위험률 4%)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01568" y="1572768"/>
            <a:ext cx="2423160" cy="457200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서학 100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162763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401568" y="2103120"/>
            <a:ext cx="2423160" cy="457200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NDX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215798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401568" y="2633472"/>
            <a:ext cx="2423160" cy="457200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2724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S&amp;P500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6883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01568" y="3200400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높을수록 위험 대비 수익 우수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 100이 NDX·S&amp;P500 모두 상회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공격적 투자 대비 효율적인 보상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105156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051560"/>
            <a:ext cx="265176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1430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NDX와 상관계수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6208" y="1572768"/>
            <a:ext cx="2423160" cy="457200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서학 100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162763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236208" y="2103120"/>
            <a:ext cx="2423160" cy="457200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NDX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06640" y="215798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236208" y="2633472"/>
            <a:ext cx="2423160" cy="457200"/>
          </a:xfrm>
          <a:prstGeom prst="rect">
            <a:avLst/>
          </a:prstGeom>
          <a:solidFill>
            <a:srgbClr val="F7F9F8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2724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S&amp;P500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06640" y="26883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236208" y="3200400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수익률 기준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NDX와 유사하지만 독립적 알파 존재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나스닥이 오를 때 더 많이 오름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4462272"/>
            <a:ext cx="8229600" cy="438912"/>
          </a:xfrm>
          <a:prstGeom prst="rect">
            <a:avLst/>
          </a:prstGeom>
          <a:solidFill>
            <a:srgbClr val="FEF9E7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5262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2020~2025년 구간은 백테스트 결과입니다. 실제 운용 성과가 아니며 과거 수익률이 미래를 보장하지 않습니다.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공개 &amp; 활용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데이터 다운로드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일간 지수 이력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828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2020.01.06 ~ 현재 · 매일 갱신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24528" y="1645920"/>
            <a:ext cx="274320" cy="274320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66420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6E56"/>
                </a:solidFill>
              </a:rPr>
              <a:t>CSV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5568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구성 종목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100종목 비중 이력 · 매주 갱신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24528" y="2423160"/>
            <a:ext cx="274320" cy="274320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44144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6E56"/>
                </a:solidFill>
              </a:rPr>
              <a:t>CSV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15568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편출입 이력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전체 편출입 + 이후 성과 추적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24528" y="3200400"/>
            <a:ext cx="274320" cy="274320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321868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6E56"/>
                </a:solidFill>
              </a:rPr>
              <a:t>CSV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5568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테마별 비중 이력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4160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8개 테마 주간 비중 추이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24528" y="3977640"/>
            <a:ext cx="274320" cy="274320"/>
          </a:xfrm>
          <a:prstGeom prst="rect">
            <a:avLst/>
          </a:prstGeom>
          <a:solidFill>
            <a:srgbClr val="E1F5EE"/>
          </a:solidFill>
          <a:ln w="3810">
            <a:solidFill>
              <a:srgbClr val="9FE1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99592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6E56"/>
                </a:solidFill>
              </a:rPr>
              <a:t>CSV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1463040"/>
            <a:ext cx="3840480" cy="118872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572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/api/v1/index/daily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/api/v1/components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2267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/api/v1/rebalancing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무료 · 인증 불필요 · JSON 응답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정책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92040" y="3438144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4198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34381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연구·분석 — 출처 명시 시 무료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92040" y="3822192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8039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66360" y="3822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언론·미디어 보도 — 출처 명시 시 무료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4206240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187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4206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내부 리서치 — 무료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92040" y="4590288"/>
            <a:ext cx="201168" cy="20116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572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45902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ETF 기초지수 활용 — 별도 계약 필요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780"/>
                </a:solidFill>
              </a:rPr>
              <a:t>출처 표기: 서학 100 지수 (Seohak 100 Index, seohak100.com)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서학 100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나스닥을 이긴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한국인의 선택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E1CB"/>
                </a:solidFill>
              </a:rPr>
              <a:t>Beating NASDAQ, Korea's Choice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4114800" cy="36576"/>
          </a:xfrm>
          <a:prstGeom prst="rect">
            <a:avLst/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FE1CB"/>
                </a:solidFill>
              </a:rPr>
              <a:t>seohak100.com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548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1CB"/>
                </a:solidFill>
              </a:rPr>
              <a:t>핵심 요약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1088136"/>
            <a:ext cx="320040" cy="320040"/>
          </a:xfrm>
          <a:prstGeom prst="ellipse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0972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5000" y="11155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세이브로 공식 데이터 기반 수급 가중 지수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746504"/>
            <a:ext cx="320040" cy="320040"/>
          </a:xfrm>
          <a:prstGeom prst="ellipse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7556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177393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보관금액 상위 100종목 · Cap 없음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404872"/>
            <a:ext cx="320040" cy="320040"/>
          </a:xfrm>
          <a:prstGeom prst="ellipse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4140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0" y="243230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6년 누적 +430% (USD) · NDX의 2.4배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3063240"/>
            <a:ext cx="320040" cy="320040"/>
          </a:xfrm>
          <a:prstGeom prst="ellipse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0723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0" y="30906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K-알파 +249%p · 집단지성의 검증된 성과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3721608"/>
            <a:ext cx="320040" cy="320040"/>
          </a:xfrm>
          <a:prstGeom prst="ellipse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37307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15000" y="3749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(2026~) : 100% 실데이터 매일 발표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4379976"/>
            <a:ext cx="320040" cy="320040"/>
          </a:xfrm>
          <a:prstGeom prst="ellipse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4389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44074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 무료 공개 · API 제공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E1CB"/>
                </a:solidFill>
              </a:rPr>
              <a:t>본 자료는 투자 권유를 목적으로 하지 않습니다. 2020~2025년은 백테스트입니다.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서학 100 지수 소개</dc:title>
  <dc:subject>PptxGenJS Presentation</dc:subject>
  <dc:creator>Seohak 100 Index</dc:creator>
  <cp:lastModifiedBy>Seohak 100 Index</cp:lastModifiedBy>
  <cp:revision>1</cp:revision>
  <dcterms:created xsi:type="dcterms:W3CDTF">2026-05-11T00:54:40Z</dcterms:created>
  <dcterms:modified xsi:type="dcterms:W3CDTF">2026-05-11T00:54:40Z</dcterms:modified>
</cp:coreProperties>
</file>